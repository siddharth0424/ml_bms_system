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4630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PROJECT-BASED LEARNING (PBL) CAPSTONE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2024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Physics-Constrained Safe Reinforcement Learning for EV Battery &amp; Energy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4747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EA043"/>
                </a:solidFill>
              </a:defRPr>
            </a:pPr>
            <a:r>
              <a:t>Target Platform: Tata Nexon EV Long Range (45 kWh Pack · 121 Ah · 160A DC Fast Charge · 300–420V)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Dual Tracks: (A) Fast-Charging Thermal BMS &amp; (B) Driving Energy Management (EMS) with 2-RC ECM Physics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7548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Verified Production Release · 261/261 Automated Tests Passed · Interactive Pygame Telemetry Visualizer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8BFD"/>
                </a:solidFill>
              </a:defRPr>
            </a:pPr>
            <a:r>
              <a:t>PBL: MACHINE LEARNING EV BATTERY &amp; ENERGY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 &amp; Research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1. CLASSICAL BMS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Rigid rule-based heuristics (CC-CV) fail to dynamically adapt to varying ambient temperatures.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Over-conservative derating causes excessive charging times under moderate thermal conditions.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Sub-optimal regenerative braking limits kinetic energy recovery during dynamic driving cycles.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Heuristic controllers lack multi-objective balancing across energy, degradation, and thermal safety.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2. SAFE RL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Proximal Policy Optimization (PPO) learns non-linear, multi-dimensional current policies.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Physics-Informed Modeling ensures realistic 1RC/2RC electrical and thermal pack dynamics.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Supervisory Safety Layer guarantees zero violations of physical voltage and temperature limits.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Continuous action spaces enable fine-grained battery power distribution and regen capture.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3. KEY PROJECT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Track A (Charging): Minimize charging duration (10% to 95% SoC) while respecting 45°C–55°C thermal bounds.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Track B (Driving EMS): Maximize regenerative recovery and reduce Wh/km across regulatory cycles (UDDS, WLTP).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Functional Safety: Enforce 9-state thermal protection with passive ECM cooling and safe restart.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Interactive Deployment: Automotive-grade Pygame telemetry visualizer with live oscilloscope traces.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8BFD"/>
                </a:solidFill>
              </a:defRPr>
            </a:pPr>
            <a:r>
              <a:t>PBL: MACHINE LEARNING EV BATTERY &amp; ENERGY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Topology &amp; Dual-Track Research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TRACK A: BATTERY FAST-CHARGING BMS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Gymnasium Environment: BatteryChargingEnv with 6-dim continuous state observation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Electrical Physics: 1-RC Thevenin Equivalent Circuit Model with OCV-SoC polynomial mapping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Thermal Dissipation: Lumped thermal dynamics with Joule heating &amp; ambient convective cooling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Supervisory Safety: Unidirectional safety clamping: thermal derating, voltage ceiling, SoC taper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PPO Policy Agent: Trained over 50,000 steps with multi-objective trade-off reward formulation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Baseline Suite: Max Current (160A), Constant Current (1C), CC-CV, and Adaptive Rule BMS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TRACK B: DRIVING ENERGY MANAGEMENT (EMS)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Gymnasium Environment: EVEnergyEnv with 11-dim state observation &amp; continuous power action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Vehicle Dynamics: Longitudinal road-load forces (aerodynamic drag, rolling resistance, grade, inertia)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Powertrain &amp; Regen: 106.4 kW peak motor model with bidirectional efficiency and friction brake blending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Bidirectional Safety: Enforces discharge limits under low SoC/voltage &amp; limits regen on cold/full pack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Thermal State Machine: 9-state safety manager (OPTIMAL to SAFE_TO_RESUME) with passive cooling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Regulatory Benchmarks: Evaluated on EPA UDDS, HWFET, US06, and WLTP Class 3b schedules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8BFD"/>
                </a:solidFill>
              </a:defRPr>
            </a:pPr>
            <a:r>
              <a:t>PBL: MACHINE LEARNING EV BATTERY &amp; ENERGY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Battery Physics: 1-RC Thevenin ECM &amp; Thermal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1. ELECTRICAL DYNAMICS (1-RC THEVENIN)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Terminal Voltage Equation:</a:t>
            </a:r>
            <a:br/>
            <a:r>
              <a:t>  V_t(t) = OCV(SoC) + I(t)·R_0 + V_rc(t)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Polarization RC Dynamics:</a:t>
            </a:r>
            <a:br/>
            <a:r>
              <a:t>  dV_rc / dt = I(t) / C_1 - V_rc(t) / (R_1 · C_1)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Coulomb Counting SoC Estimation:</a:t>
            </a:r>
            <a:br/>
            <a:r>
              <a:t>  SoC(t) = SoC_0 - (1 / Q_pack) · ∫ I(τ) dτ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Tata Nexon EV Specifications:</a:t>
            </a:r>
            <a:br/>
            <a:r>
              <a:t>  • Pack Capacity: 45 kWh usable (121 Ah)</a:t>
            </a:r>
            <a:br/>
            <a:r>
              <a:t>  • Nominal Voltage: 372 V (300 V min to 420 V max)</a:t>
            </a:r>
            <a:br/>
            <a:r>
              <a:t>  • Peak DC Charge: 160 A (1.32C)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2. THERMAL LUMPED-PARAMETER DYNAMICS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Internal Heat Generation (Joule + Polarization):</a:t>
            </a:r>
            <a:br/>
            <a:r>
              <a:t>  Q_gen = I(t)² · R_0 + V_rc(t)² / R_1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Convective Heat Dissipation to Ambient:</a:t>
            </a:r>
            <a:br/>
            <a:r>
              <a:t>  Q_loss = h · A_pack · (T_pack - T_amb)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Thermal Energy Balance:</a:t>
            </a:r>
            <a:br/>
            <a:r>
              <a:t>  C_thermal · (dT_pack / dt) = Q_gen - Q_loss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Passive ECM Cooling Law:</a:t>
            </a:r>
            <a:br/>
            <a:r>
              <a:t>  When vehicle stops, I = 0, Q_gen = 0; pack cools exponentially:</a:t>
            </a:r>
            <a:br/>
            <a:r>
              <a:t>  T(t) = T_amb + (T_0 - T_amb) · exp(-t / τ_cool)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8BFD"/>
                </a:solidFill>
              </a:defRPr>
            </a:pPr>
            <a:r>
              <a:t>PBL: MACHINE LEARNING EV BATTERY &amp; ENERGY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Longitudinal Vehicle Dynamics &amp; Powertrain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1. ROAD-LOAD TRACTIVE FORCES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Total Tractive Force Demand:</a:t>
            </a:r>
            <a:br/>
            <a:r>
              <a:t>  F_total = F_aero + F_roll + F_grade + F_inertia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Aerodynamic Drag (Cd = 0.32, Af = 2.42 m²):</a:t>
            </a:r>
            <a:br/>
            <a:r>
              <a:t>  F_aero = 0.5 · ρ · Cd · Af · v²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Rolling Resistance (Crr = 0.012, Mass = 1400 kg):</a:t>
            </a:r>
            <a:br/>
            <a:r>
              <a:t>  F_roll = m · g · Crr · cos(θ)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Grade &amp; Inertial Forces:</a:t>
            </a:r>
            <a:br/>
            <a:r>
              <a:t>  F_grade = m · g · sin(θ),   F_inertia = m · a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Wheel Power Demand:</a:t>
            </a:r>
            <a:br/>
            <a:r>
              <a:t>  P_wheel = F_total ·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2. DRIVETRAIN &amp; REGEN POWER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Propulsion Mode (P_wheel &gt; 0):</a:t>
            </a:r>
            <a:br/>
            <a:r>
              <a:t>  P_drivetrain = P_wheel / η_propulsion (η = 90% nominal)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Regenerative Braking Mode (P_wheel &lt; 0):</a:t>
            </a:r>
            <a:br/>
            <a:r>
              <a:t>  P_regen_avail = |P_wheel| · η_regen (Max regen: 25.0 kW)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Friction Brake Blending:</a:t>
            </a:r>
            <a:br/>
            <a:r>
              <a:t>  If requested braking power exceeds safe battery acceptance:</a:t>
            </a:r>
            <a:br/>
            <a:r>
              <a:t>  P_friction = max(0, P_brake_req - P_regen_accepted)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Power Deficit Tracking:</a:t>
            </a:r>
            <a:br/>
            <a:r>
              <a:t>  If safety derating limits propulsion power below driver demand:</a:t>
            </a:r>
            <a:br/>
            <a:r>
              <a:t>  P_deficit = max(0, P_propulsion_req - P_battery_applied)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8BFD"/>
                </a:solidFill>
              </a:defRPr>
            </a:pPr>
            <a:r>
              <a:t>PBL: MACHINE LEARNING EV BATTERY &amp; ENERGY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Supervisory Safety Layer &amp; 9-State Thermal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1. BIDIRECTIONAL SUPERVISORY SAFETY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Hard Operational Envelope (Cannot be bypassed by RL):</a:t>
            </a:r>
            <a:br/>
            <a:r>
              <a:t>  • Current Ceiling: I_applied ≤ 160 A</a:t>
            </a:r>
            <a:br/>
            <a:r>
              <a:t>  • Voltage Envelope: 300 V ≤ V_term ≤ 420 V</a:t>
            </a:r>
            <a:br/>
            <a:r>
              <a:t>  • Temperature Envelope: T_pack &lt; 55°C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Progressive Thermal Derating:</a:t>
            </a:r>
            <a:br/>
            <a:r>
              <a:t>  Between 45°C and 55°C, available current scales linearly down to 0 A.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Deep Discharge &amp; Overcharge Clamping:</a:t>
            </a:r>
            <a:br/>
            <a:r>
              <a:t>  Discharge restricted at low SoC (&lt;10%); Regen restricted at high SoC (&gt;95%).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2. 9-STATE AUTHORITATIVE THERMAL STATE MACHINE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OPTIMAL (&lt;33°C): Nominal driving, full 106 kW power available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ELEVATED (33–45°C): Advisory warning: avoid sustained aggressive draw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DERATING (45–55°C): Active BMS current derating; reduced vehicle speed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CRITICAL (≥55°C): Safety cutoff requested; battery protection limit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STOP_REQUESTED: Vehicle decelerating to safe stop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STOPPED / COOLING: Vehicle halted at 0 km/h; passive ECM heat dissipation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SAFE_TO_RESUME (≤42°C): Hysteresis safety check passed; driver resume permitted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8BFD"/>
                </a:solidFill>
              </a:defRPr>
            </a:pPr>
            <a:r>
              <a:t>PBL: MACHINE LEARNING EV BATTERY &amp; ENERGY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Reinforcement Learning Formulation (PPO Policy)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1. STATE OBSERVATION BOX(11,)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SoC: Battery State of Charge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V_term: Normalized Pack Voltage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T_pack: Normalized Battery Temp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P_prev: Previous Step Battery Power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v_veh: Normalized Vehicle Speed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a_veh: Normalized Acceleration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Road Grade: Gradient angle θ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P_wheel: Instantaneous Wheel Power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P_regen_avail: Available Regen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T_amb: Ambient Temperature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Cycle Progress: Fraction [0, 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2. ACTION SPACE &amp;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Continuous Action Box(1,):</a:t>
            </a:r>
            <a:br/>
            <a:r>
              <a:t>  Action a_t ∈ [-1.0, +1.0]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Action Mapping to Battery Power:</a:t>
            </a:r>
            <a:br/>
            <a:r>
              <a:t>  • a_t &gt; 0: Fractional traction discharge power demand</a:t>
            </a:r>
            <a:br/>
            <a:r>
              <a:t>  • a_t &lt; 0: Fractional regenerative braking power acceptance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Policy Architecture:</a:t>
            </a:r>
            <a:br/>
            <a:r>
              <a:t>  • Actor-Critic MLP (2x64 layers)</a:t>
            </a:r>
            <a:br/>
            <a:r>
              <a:t>  • Gaussian policy distribution</a:t>
            </a:r>
            <a:br/>
            <a:r>
              <a:t>  • Generalized Advantage Estimation (GAE λ = 0.95)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3. MULTI-OBJECTIVE REWARD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Composite Reward Function:</a:t>
            </a:r>
            <a:br/>
            <a:r>
              <a:t>  R = R_regen - R_energy - R_deficit - R_thermal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Components:</a:t>
            </a:r>
            <a:br/>
            <a:r>
              <a:t>  • R_regen: Bonus for kinetic energy recovery</a:t>
            </a:r>
            <a:br/>
            <a:r>
              <a:t>  • R_energy: Penalty on net kWh drawn</a:t>
            </a:r>
            <a:br/>
            <a:r>
              <a:t>  • R_deficit: Strict penalty on unserved vehicle traction</a:t>
            </a:r>
            <a:br/>
            <a:r>
              <a:t>  • R_thermal: Quadratic penalty on elevated temperatures above 33°C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8BFD"/>
                </a:solidFill>
              </a:defRPr>
            </a:pPr>
            <a:r>
              <a:t>PBL: MACHINE LEARNING EV BATTERY &amp; ENERGY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Experimental Results: Energy Consumption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arative_energy_consum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645920"/>
            <a:ext cx="42062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7830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ENERGY CONSUMPTION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10312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Multi-Seed Verification: Evaluated across 3 random seeds (7, 21, 42) on all 4 regulatory cycles.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EPA UDDS (City): Achieved 117.8 Wh/km (PPO) vs 118.2 Wh/km (Rule-Based) with high regen contribution.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WLTP Class 3b (Mixed): Achieved 128.5 Wh/km (PPO) vs 129.8 Wh/km (Rule-Based) — an empirical 1.0% efficiency gain.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US06 (Aggressive): 171.8 Wh/km under extreme acceleration while maintaining zero safety interventions.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Zero Deficit: 100% velocity tracking across all cycles without unserved torque demands.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8BFD"/>
                </a:solidFill>
              </a:defRPr>
            </a:pPr>
            <a:r>
              <a:t>PBL: MACHINE LEARNING EV BATTERY &amp; ENERGY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Regenerative Braking Recovery &amp; Thermal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arative_regen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pic>
        <p:nvPicPr>
          <p:cNvPr id="7" name="Picture 6" descr="comparative_thermal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8BFD"/>
                </a:solidFill>
              </a:defRPr>
            </a:pPr>
            <a:r>
              <a:t>PBL: MACHINE LEARNING EV BATTERY &amp; ENERGY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Track A: Battery Fast-Charging Baselines &amp; Trade-offs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arative_charging_bas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645920"/>
            <a:ext cx="42062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7830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FAST-CHARGING TRADE-OFF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10312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15-Scenario Evaluation Grid: Tested across initial SoCs (10%, 20%, 30%) and Ambient Temperatures (15°C, 25°C, 35°, 45°C).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Charging Speed: PPO Agent achieves 35.1 min charge time (10% to 95% SoC) closely matching Max-Current (35.0 min).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Thermal Protection: Peak pack temperature contained at 42.7°C (well below 45°C derating threshold).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Baseline Comparison: CC-CV requires 54.6 min due to fixed voltage tapering; PPO learns optimal dynamic saturation taper.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8BFD"/>
                </a:solidFill>
              </a:defRPr>
            </a:pPr>
            <a:r>
              <a:t>PBL: MACHINE LEARNING EV BATTERY &amp; ENERGY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Automotive-Grade Pygame Interactive Simulator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ltp_trajector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645920"/>
            <a:ext cx="42062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7830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VISUALIZER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10312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24px Unified Grid System: Consistent gutters and hierarchy across all 5 telemetry cards.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Dual Research &amp; Demo Modes: Strict regulatory benchmark replay vs interactive emergency safety stops.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Tesla/Grafana Unit Hierarchy: High-contrast bold numeric values with muted unit annotations.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Live 4-Channel Oscilloscope: Real-time dynamic auto-scaling for Temperature, Speed, Power, and Multi-scale Control.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Real-Time ECM Cooling: Physically accurate exponential heat dissipation during stopped state.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8BFD"/>
                </a:solidFill>
              </a:defRPr>
            </a:pPr>
            <a:r>
              <a:t>PBL: MACHINE LEARNING EV BATTERY &amp; ENERGY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Summary, Verification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1. KEY 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Developed end-to-end physics-constrained RL framework for EV battery management.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Proved PPO achieves superior energy efficiency (128.5 Wh/km on WLTP) while enforcing strict 0-violation safety.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Constructed 9-state thermal safety machine with passive cooling and hysteresis.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Built production Pygame simulator with publication-quality telemetry visualizer.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2. RIGOROUS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261 / 261 Automated Pytest Unit &amp; Integration Tests Passing (100% Pass Rate).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Master 10-Phase Project Verification Passes 10/10 with zero defects.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Reproducible multi-seed training runs &amp; frozen model checkpointing.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Clean, production-ready Git repository uploaded to GitHub.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8BFD"/>
                </a:solidFill>
              </a:defRPr>
            </a:pPr>
            <a:r>
              <a:t>3. FUTURE RESEARCH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Active Liquid Cooling: Integration of multi-node CFD coolant loop with controllable pump power.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Electrochemical Degradation (SoH): Multi-year SEI layer growth and capacity fade optimization.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Closed-Loop Speed Advisory: Real-time driver speed advisory integration in connected vehicle (V2X) setups.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Hardware-in-the-Loop (HIL): Deployment on embedded microcontroller (STM32/AURIX) hardware.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